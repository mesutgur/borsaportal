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76" r:id="rId3"/>
    <p:sldId id="312" r:id="rId4"/>
    <p:sldId id="314" r:id="rId5"/>
    <p:sldId id="310" r:id="rId6"/>
    <p:sldId id="309" r:id="rId7"/>
    <p:sldId id="293" r:id="rId8"/>
    <p:sldId id="316" r:id="rId9"/>
    <p:sldId id="311" r:id="rId10"/>
    <p:sldId id="294" r:id="rId11"/>
    <p:sldId id="296" r:id="rId12"/>
    <p:sldId id="295" r:id="rId13"/>
    <p:sldId id="297" r:id="rId14"/>
    <p:sldId id="301" r:id="rId15"/>
    <p:sldId id="300" r:id="rId16"/>
    <p:sldId id="298" r:id="rId17"/>
    <p:sldId id="299" r:id="rId18"/>
    <p:sldId id="302" r:id="rId19"/>
    <p:sldId id="305" r:id="rId20"/>
    <p:sldId id="304" r:id="rId21"/>
    <p:sldId id="303" r:id="rId22"/>
    <p:sldId id="289" r:id="rId23"/>
    <p:sldId id="315" r:id="rId24"/>
    <p:sldId id="31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xmlns="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>
        <p:scale>
          <a:sx n="76" d="100"/>
          <a:sy n="76" d="100"/>
        </p:scale>
        <p:origin x="-4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5684EF-A6C1-46A5-B80A-CA4E9008B778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tr-TR"/>
        </a:p>
      </dgm:t>
    </dgm:pt>
    <dgm:pt modelId="{5FAF9DC0-95D4-401E-B440-2AB482725BB3}">
      <dgm:prSet custT="1"/>
      <dgm:spPr/>
      <dgm:t>
        <a:bodyPr/>
        <a:lstStyle/>
        <a:p>
          <a:pPr rtl="0"/>
          <a:r>
            <a:rPr lang="tr-TR" sz="3600" dirty="0" smtClean="0">
              <a:solidFill>
                <a:schemeClr val="bg1"/>
              </a:solidFill>
            </a:rPr>
            <a:t>BEDELSİZ POTANSİYELİ =    </a:t>
          </a:r>
          <a:r>
            <a:rPr lang="tr-TR" sz="3600" dirty="0" smtClean="0">
              <a:solidFill>
                <a:schemeClr val="bg1"/>
              </a:solidFill>
              <a:latin typeface="Calibri"/>
              <a:cs typeface="Calibri"/>
            </a:rPr>
            <a:t>↓</a:t>
          </a:r>
          <a:endParaRPr lang="tr-TR" sz="3600" dirty="0">
            <a:solidFill>
              <a:schemeClr val="bg1"/>
            </a:solidFill>
          </a:endParaRPr>
        </a:p>
      </dgm:t>
    </dgm:pt>
    <dgm:pt modelId="{BF1C4242-4649-4FF7-AB15-96BEDC03D55C}" type="parTrans" cxnId="{F5F3092C-1706-4002-81C9-CD4FEA71C1D1}">
      <dgm:prSet/>
      <dgm:spPr/>
      <dgm:t>
        <a:bodyPr/>
        <a:lstStyle/>
        <a:p>
          <a:endParaRPr lang="tr-TR"/>
        </a:p>
      </dgm:t>
    </dgm:pt>
    <dgm:pt modelId="{0D43C514-2A7A-447A-B349-C308C7EFA15E}" type="sibTrans" cxnId="{F5F3092C-1706-4002-81C9-CD4FEA71C1D1}">
      <dgm:prSet/>
      <dgm:spPr/>
      <dgm:t>
        <a:bodyPr/>
        <a:lstStyle/>
        <a:p>
          <a:endParaRPr lang="tr-TR"/>
        </a:p>
      </dgm:t>
    </dgm:pt>
    <dgm:pt modelId="{CAB60435-2D20-44F0-8D19-E49CBD7253A3}">
      <dgm:prSet/>
      <dgm:spPr/>
      <dgm:t>
        <a:bodyPr/>
        <a:lstStyle/>
        <a:p>
          <a:pPr rtl="0"/>
          <a:endParaRPr lang="tr-TR" dirty="0"/>
        </a:p>
      </dgm:t>
    </dgm:pt>
    <dgm:pt modelId="{4E8E87F5-9304-4E27-96DA-91F00D7943F9}" type="parTrans" cxnId="{8133F24A-B044-4B16-A4F2-F0764886C90E}">
      <dgm:prSet/>
      <dgm:spPr/>
      <dgm:t>
        <a:bodyPr/>
        <a:lstStyle/>
        <a:p>
          <a:endParaRPr lang="tr-TR"/>
        </a:p>
      </dgm:t>
    </dgm:pt>
    <dgm:pt modelId="{E4773AE3-CA37-49BA-B4F9-1F4709C5210B}" type="sibTrans" cxnId="{8133F24A-B044-4B16-A4F2-F0764886C90E}">
      <dgm:prSet/>
      <dgm:spPr/>
      <dgm:t>
        <a:bodyPr/>
        <a:lstStyle/>
        <a:p>
          <a:endParaRPr lang="tr-TR"/>
        </a:p>
      </dgm:t>
    </dgm:pt>
    <dgm:pt modelId="{60CEE6F6-4E9B-41F6-9F80-35D9303C113F}">
      <dgm:prSet custT="1"/>
      <dgm:spPr/>
      <dgm:t>
        <a:bodyPr/>
        <a:lstStyle/>
        <a:p>
          <a:pPr rtl="0"/>
          <a:r>
            <a:rPr lang="tr-TR" sz="2400" b="1" dirty="0" smtClean="0"/>
            <a:t>(ÖZSERMAYE - ÖDENMİŞ SERMAYE) / ÖDENMİŞ SERMAYE X 100</a:t>
          </a:r>
          <a:endParaRPr lang="tr-TR" sz="2400" dirty="0"/>
        </a:p>
      </dgm:t>
    </dgm:pt>
    <dgm:pt modelId="{84852F76-D34D-4540-B837-98349D6CA675}" type="parTrans" cxnId="{F1D63BB5-375D-4529-A2E7-FAD52EBF88E6}">
      <dgm:prSet/>
      <dgm:spPr/>
      <dgm:t>
        <a:bodyPr/>
        <a:lstStyle/>
        <a:p>
          <a:endParaRPr lang="tr-TR"/>
        </a:p>
      </dgm:t>
    </dgm:pt>
    <dgm:pt modelId="{B2FDD3A9-A9EF-4076-AF05-246087456230}" type="sibTrans" cxnId="{F1D63BB5-375D-4529-A2E7-FAD52EBF88E6}">
      <dgm:prSet/>
      <dgm:spPr/>
      <dgm:t>
        <a:bodyPr/>
        <a:lstStyle/>
        <a:p>
          <a:endParaRPr lang="tr-TR"/>
        </a:p>
      </dgm:t>
    </dgm:pt>
    <dgm:pt modelId="{279F5E05-0E7F-454D-9A0C-136AC10B6746}" type="pres">
      <dgm:prSet presAssocID="{385684EF-A6C1-46A5-B80A-CA4E9008B77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E0B83EDD-C07A-463F-A1E4-C154D8B92E60}" type="pres">
      <dgm:prSet presAssocID="{5FAF9DC0-95D4-401E-B440-2AB482725BB3}" presName="parentText" presStyleLbl="node1" presStyleIdx="0" presStyleCnt="2" custScaleY="67950" custLinFactNeighborX="-363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FEF93306-94BB-4E75-A129-73FF3E7C3039}" type="pres">
      <dgm:prSet presAssocID="{5FAF9DC0-95D4-401E-B440-2AB482725BB3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8E895FCF-231C-4B7F-A82E-C4128AB8256B}" type="pres">
      <dgm:prSet presAssocID="{60CEE6F6-4E9B-41F6-9F80-35D9303C113F}" presName="parentText" presStyleLbl="node1" presStyleIdx="1" presStyleCnt="2" custScaleX="96726" custScaleY="88306">
        <dgm:presLayoutVars>
          <dgm:chMax val="0"/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E1D27E62-ADFD-41F3-9A18-E85313E4EA07}" type="presOf" srcId="{60CEE6F6-4E9B-41F6-9F80-35D9303C113F}" destId="{8E895FCF-231C-4B7F-A82E-C4128AB8256B}" srcOrd="0" destOrd="0" presId="urn:microsoft.com/office/officeart/2005/8/layout/vList2"/>
    <dgm:cxn modelId="{F1D63BB5-375D-4529-A2E7-FAD52EBF88E6}" srcId="{385684EF-A6C1-46A5-B80A-CA4E9008B778}" destId="{60CEE6F6-4E9B-41F6-9F80-35D9303C113F}" srcOrd="1" destOrd="0" parTransId="{84852F76-D34D-4540-B837-98349D6CA675}" sibTransId="{B2FDD3A9-A9EF-4076-AF05-246087456230}"/>
    <dgm:cxn modelId="{46028E12-AB8F-4165-B36B-7A40E54E8A01}" type="presOf" srcId="{385684EF-A6C1-46A5-B80A-CA4E9008B778}" destId="{279F5E05-0E7F-454D-9A0C-136AC10B6746}" srcOrd="0" destOrd="0" presId="urn:microsoft.com/office/officeart/2005/8/layout/vList2"/>
    <dgm:cxn modelId="{E8847495-E946-4598-8EA3-B0730E4E475B}" type="presOf" srcId="{5FAF9DC0-95D4-401E-B440-2AB482725BB3}" destId="{E0B83EDD-C07A-463F-A1E4-C154D8B92E60}" srcOrd="0" destOrd="0" presId="urn:microsoft.com/office/officeart/2005/8/layout/vList2"/>
    <dgm:cxn modelId="{9FA00B2A-FB68-4DA0-9759-613C1B3FC277}" type="presOf" srcId="{CAB60435-2D20-44F0-8D19-E49CBD7253A3}" destId="{FEF93306-94BB-4E75-A129-73FF3E7C3039}" srcOrd="0" destOrd="0" presId="urn:microsoft.com/office/officeart/2005/8/layout/vList2"/>
    <dgm:cxn modelId="{F5F3092C-1706-4002-81C9-CD4FEA71C1D1}" srcId="{385684EF-A6C1-46A5-B80A-CA4E9008B778}" destId="{5FAF9DC0-95D4-401E-B440-2AB482725BB3}" srcOrd="0" destOrd="0" parTransId="{BF1C4242-4649-4FF7-AB15-96BEDC03D55C}" sibTransId="{0D43C514-2A7A-447A-B349-C308C7EFA15E}"/>
    <dgm:cxn modelId="{8133F24A-B044-4B16-A4F2-F0764886C90E}" srcId="{5FAF9DC0-95D4-401E-B440-2AB482725BB3}" destId="{CAB60435-2D20-44F0-8D19-E49CBD7253A3}" srcOrd="0" destOrd="0" parTransId="{4E8E87F5-9304-4E27-96DA-91F00D7943F9}" sibTransId="{E4773AE3-CA37-49BA-B4F9-1F4709C5210B}"/>
    <dgm:cxn modelId="{A1300A03-2E50-4EA2-B73F-2E46B7FB0297}" type="presParOf" srcId="{279F5E05-0E7F-454D-9A0C-136AC10B6746}" destId="{E0B83EDD-C07A-463F-A1E4-C154D8B92E60}" srcOrd="0" destOrd="0" presId="urn:microsoft.com/office/officeart/2005/8/layout/vList2"/>
    <dgm:cxn modelId="{0C087582-2C91-479C-86C6-3837F1BDC42F}" type="presParOf" srcId="{279F5E05-0E7F-454D-9A0C-136AC10B6746}" destId="{FEF93306-94BB-4E75-A129-73FF3E7C3039}" srcOrd="1" destOrd="0" presId="urn:microsoft.com/office/officeart/2005/8/layout/vList2"/>
    <dgm:cxn modelId="{4F1F12BB-A257-4D17-B474-A74621403716}" type="presParOf" srcId="{279F5E05-0E7F-454D-9A0C-136AC10B6746}" destId="{8E895FCF-231C-4B7F-A82E-C4128AB8256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83EDD-C07A-463F-A1E4-C154D8B92E60}">
      <dsp:nvSpPr>
        <dsp:cNvPr id="0" name=""/>
        <dsp:cNvSpPr/>
      </dsp:nvSpPr>
      <dsp:spPr>
        <a:xfrm>
          <a:off x="0" y="1375717"/>
          <a:ext cx="10685306" cy="8140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3600" kern="1200" dirty="0" smtClean="0">
              <a:solidFill>
                <a:schemeClr val="bg1"/>
              </a:solidFill>
            </a:rPr>
            <a:t>BEDELSİZ POTANSİYELİ =    </a:t>
          </a:r>
          <a:r>
            <a:rPr lang="tr-TR" sz="3600" kern="1200" dirty="0" smtClean="0">
              <a:solidFill>
                <a:schemeClr val="bg1"/>
              </a:solidFill>
              <a:latin typeface="Calibri"/>
              <a:cs typeface="Calibri"/>
            </a:rPr>
            <a:t>↓</a:t>
          </a:r>
          <a:endParaRPr lang="tr-TR" sz="3600" kern="1200" dirty="0">
            <a:solidFill>
              <a:schemeClr val="bg1"/>
            </a:solidFill>
          </a:endParaRPr>
        </a:p>
      </dsp:txBody>
      <dsp:txXfrm>
        <a:off x="39741" y="1415458"/>
        <a:ext cx="10605824" cy="734613"/>
      </dsp:txXfrm>
    </dsp:sp>
    <dsp:sp modelId="{FEF93306-94BB-4E75-A129-73FF3E7C3039}">
      <dsp:nvSpPr>
        <dsp:cNvPr id="0" name=""/>
        <dsp:cNvSpPr/>
      </dsp:nvSpPr>
      <dsp:spPr>
        <a:xfrm>
          <a:off x="0" y="2189812"/>
          <a:ext cx="10685306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258" tIns="81280" rIns="455168" bIns="81280" numCol="1" spcCol="1270" anchor="t" anchorCtr="0">
          <a:noAutofit/>
        </a:bodyPr>
        <a:lstStyle/>
        <a:p>
          <a:pPr marL="285750" lvl="1" indent="-285750" algn="l" defTabSz="22225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tr-TR" sz="5000" kern="1200" dirty="0"/>
        </a:p>
      </dsp:txBody>
      <dsp:txXfrm>
        <a:off x="0" y="2189812"/>
        <a:ext cx="10685306" cy="1059840"/>
      </dsp:txXfrm>
    </dsp:sp>
    <dsp:sp modelId="{8E895FCF-231C-4B7F-A82E-C4128AB8256B}">
      <dsp:nvSpPr>
        <dsp:cNvPr id="0" name=""/>
        <dsp:cNvSpPr/>
      </dsp:nvSpPr>
      <dsp:spPr>
        <a:xfrm>
          <a:off x="174918" y="3249652"/>
          <a:ext cx="10335469" cy="105797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2400" b="1" kern="1200" dirty="0" smtClean="0"/>
            <a:t>(ÖZSERMAYE - ÖDENMİŞ SERMAYE) / ÖDENMİŞ SERMAYE X 100</a:t>
          </a:r>
          <a:endParaRPr lang="tr-TR" sz="2400" kern="1200" dirty="0"/>
        </a:p>
      </dsp:txBody>
      <dsp:txXfrm>
        <a:off x="226564" y="3301298"/>
        <a:ext cx="10232177" cy="954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8DAC1-8142-4C18-BAD6-7791C14938E2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43B9A-F90B-420B-96AE-2ECF763917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625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6060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480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5980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13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108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881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186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5851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42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677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4572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8625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6707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4591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543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1689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030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90B8D-E5A3-4D34-A6F8-F40253E54C05}" type="datetimeFigureOut">
              <a:rPr lang="tr-TR" smtClean="0"/>
              <a:t>1.02.2023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D083-2E56-4878-9489-498EBD47252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1165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xmlns="" id="{809C040F-1312-49FB-A925-B46854B41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244" y="998621"/>
            <a:ext cx="9733512" cy="3212432"/>
          </a:xfr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tr-TR" sz="6600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TEMEL ANALİZ ve</a:t>
            </a:r>
            <a:br>
              <a:rPr lang="tr-TR" sz="6600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tr-TR" sz="6600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hisseye </a:t>
            </a:r>
            <a:r>
              <a:rPr lang="tr-TR" sz="6600" dirty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değer </a:t>
            </a:r>
            <a:r>
              <a:rPr lang="tr-TR" sz="6600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biçme yöntemleri</a:t>
            </a:r>
            <a:endParaRPr lang="tr-TR" sz="6600" dirty="0">
              <a:solidFill>
                <a:schemeClr val="bg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xmlns="" id="{5D0B4D3E-874D-439F-85A6-B032FA1BD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2257341"/>
          </a:xfrm>
        </p:spPr>
        <p:txBody>
          <a:bodyPr>
            <a:normAutofit fontScale="92500"/>
          </a:bodyPr>
          <a:lstStyle/>
          <a:p>
            <a:r>
              <a:rPr lang="tr-TR" dirty="0"/>
              <a:t>	</a:t>
            </a:r>
          </a:p>
          <a:p>
            <a:endParaRPr lang="tr-TR" dirty="0"/>
          </a:p>
          <a:p>
            <a:r>
              <a:rPr lang="tr-TR" dirty="0"/>
              <a:t>						</a:t>
            </a:r>
          </a:p>
          <a:p>
            <a:r>
              <a:rPr lang="tr-TR" dirty="0">
                <a:solidFill>
                  <a:schemeClr val="bg1"/>
                </a:solidFill>
              </a:rPr>
              <a:t>						HAZIRLAYAN: Gani GÜLAYDIN</a:t>
            </a:r>
          </a:p>
        </p:txBody>
      </p:sp>
    </p:spTree>
    <p:extLst>
      <p:ext uri="{BB962C8B-B14F-4D97-AF65-F5344CB8AC3E}">
        <p14:creationId xmlns:p14="http://schemas.microsoft.com/office/powerpoint/2010/main" val="370269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3983"/>
            <a:ext cx="10353761" cy="724486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  <a:t>Temel </a:t>
            </a:r>
            <a:r>
              <a:rPr lang="tr-TR" sz="2600" dirty="0" smtClean="0">
                <a:latin typeface="Bookman Old Style" panose="02050604050505020204" pitchFamily="18" charset="0"/>
                <a:cs typeface="Calibri" panose="020F0502020204030204" pitchFamily="34" charset="0"/>
              </a:rPr>
              <a:t>analiz KONULAR</a:t>
            </a:r>
            <a:endParaRPr lang="tr-TR" sz="22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55077"/>
            <a:ext cx="10353762" cy="559894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1) FİYAT KAZANÇ ORANI ( F/K ORANI )</a:t>
            </a:r>
          </a:p>
          <a:p>
            <a:pPr>
              <a:lnSpc>
                <a:spcPct val="200000"/>
              </a:lnSpc>
            </a:pP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2) HİSSE BAŞI KÂR ( HBK )</a:t>
            </a: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2) PEG RASYOSU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3) 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PİYASA DEĞERİ / DEFTER DEĞERİ ( PD/DD ORANI )</a:t>
            </a: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4) ÖZSERMAYE 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KÂ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RLILIĞI ( ROE )</a:t>
            </a: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5) SERMAYE 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ARTIRIMI</a:t>
            </a: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85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3983"/>
            <a:ext cx="10353761" cy="724486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  <a:t>HİSSEYE DEĞER  BİÇME YÖNTEMLERİ</a:t>
            </a:r>
            <a:endParaRPr lang="tr-TR" sz="22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25415"/>
            <a:ext cx="10353762" cy="5528603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92500" lnSpcReduction="20000"/>
          </a:bodyPr>
          <a:lstStyle/>
          <a:p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1) CARİ FK’ YA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2) FUTURE’S FK’ YA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3) TARİHSEL FK’ YA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4) PD/DD YÖNTEMİNE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5) ÖDENMİŞ SERMAYEYE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6) YIL SONU TAHMİNİ ÖZSERMAYE 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Â</a:t>
            </a:r>
            <a:r>
              <a:rPr lang="tr-TR" sz="1900" b="1" dirty="0" smtClean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RLILIĞINA 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7) POTANSİYEL PİYASA DEĞERİNE GÖRE HİSSEYE DEĞER BİÇME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8) PD/NS YÖNTEMİNE GÖRE HİSSEYE DEĞER BİÇME</a:t>
            </a: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53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3983"/>
            <a:ext cx="10353761" cy="724486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  <a:t>Temel analiz NEDİR ?</a:t>
            </a:r>
            <a:endParaRPr lang="tr-TR" sz="22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55077"/>
            <a:ext cx="10353762" cy="559894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</a:endParaRP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Bir enstrümanın gerçek değerini belirlemede ve gelecekte fiyatını etkileyebilecek faktörleri analiz etme yöntemine denir.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Şirketin finansal açıdan ne kadar sağlam olduğunu gösterir.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Teknik analiz gibi kısa vadeli yatırımlar için kullanılamaz. Orta ve Uzun vadeli yatırımlar için tercih edilir.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Hisse senetlerinin; bir piyasa değeri, birde gerçek değeri vardır. 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Piyasa değeri; bir varlığın piyasada işlem gördüğü değeridir. 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Gerçek değeri ise ; yatırım aracının sahip olduğu esas değerdir.</a:t>
            </a: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38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  <a:t>F/K </a:t>
            </a:r>
            <a:r>
              <a:rPr lang="tr-TR" sz="2600" dirty="0" err="1" smtClean="0">
                <a:latin typeface="Bookman Old Style" panose="02050604050505020204" pitchFamily="18" charset="0"/>
                <a:cs typeface="Calibri" panose="020F0502020204030204" pitchFamily="34" charset="0"/>
              </a:rPr>
              <a:t>OranI</a:t>
            </a:r>
            <a: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  <a:t/>
            </a:r>
            <a:br>
              <a:rPr lang="tr-TR" sz="2600" dirty="0"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tr-TR" sz="2200" dirty="0">
                <a:latin typeface="Bookman Old Style" panose="02050604050505020204" pitchFamily="18" charset="0"/>
                <a:cs typeface="Calibri" panose="020F0502020204030204" pitchFamily="34" charset="0"/>
              </a:rPr>
              <a:t>(FİYAT/KAZANÇ)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8"/>
            <a:ext cx="10353762" cy="3896412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Bir firmanın kazancının kaç katına satıldığını gösteren katsayıdır. 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Farklı bir deyişle şirket kendini ne kadar sürede amorti ediyor.</a:t>
            </a:r>
          </a:p>
          <a:p>
            <a:pPr>
              <a:lnSpc>
                <a:spcPct val="200000"/>
              </a:lnSpc>
            </a:pP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Şirketin F/K Oranı, Bist100 veya Sektörün F/K Oranından düşük olması tercih edilir.</a:t>
            </a:r>
          </a:p>
          <a:p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Şirket F/K oranı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&lt;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BİST100 veya Sektör F/K oranı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ise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Şirketimiz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ucuz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demektir.</a:t>
            </a:r>
          </a:p>
          <a:p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Şirket F/K oranı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&gt;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BİST100 veya Sektör F/K oranı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ise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Şirketimiz </a:t>
            </a:r>
            <a:r>
              <a:rPr lang="tr-TR" sz="1900" b="1" dirty="0">
                <a:solidFill>
                  <a:srgbClr val="FF0000"/>
                </a:solidFill>
                <a:effectLst/>
                <a:latin typeface="Bookman Old Style" panose="02050604050505020204" pitchFamily="18" charset="0"/>
              </a:rPr>
              <a:t>pahalı</a:t>
            </a:r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</a:rPr>
              <a:t> demektir.</a:t>
            </a:r>
          </a:p>
          <a:p>
            <a:r>
              <a:rPr lang="tr-TR" sz="1900" b="1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>Faiz ile Fk Oranı arasında ters korelasyon vardır. Faiz düşükse şirketler yüksek Fk’dan işlem görürler ; ama faiz yüksekse şirketler düşük Fk’dan işlem görürler.</a:t>
            </a:r>
          </a:p>
          <a:p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</a:endParaRPr>
          </a:p>
          <a:p>
            <a:pPr>
              <a:lnSpc>
                <a:spcPct val="200000"/>
              </a:lnSpc>
            </a:pPr>
            <a:endParaRPr lang="tr-TR" sz="1900" b="1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dirty="0">
              <a:solidFill>
                <a:schemeClr val="bg1"/>
              </a:solidFill>
              <a:effectLst/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4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tr-TR" sz="2400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F/K ORANI</a:t>
            </a:r>
            <a:br>
              <a:rPr lang="tr-TR" sz="2400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tr-TR" sz="2400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 </a:t>
            </a:r>
            <a:r>
              <a:rPr lang="tr-TR" sz="2400" dirty="0">
                <a:latin typeface="Bookman Old Style" panose="02050604050505020204" pitchFamily="18" charset="0"/>
                <a:cs typeface="Calibri" panose="020F0502020204030204" pitchFamily="34" charset="0"/>
              </a:rPr>
              <a:t>(PD / YILLIK  NET </a:t>
            </a:r>
            <a:r>
              <a:rPr lang="tr-TR" sz="2400" dirty="0" smtClean="0"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2400" dirty="0">
                <a:latin typeface="Calibri" panose="020F0502020204030204" pitchFamily="34" charset="0"/>
                <a:cs typeface="Calibri" panose="020F0502020204030204" pitchFamily="34" charset="0"/>
              </a:rPr>
              <a:t>Â</a:t>
            </a:r>
            <a:r>
              <a:rPr lang="tr-TR" sz="2400" dirty="0" smtClean="0">
                <a:latin typeface="Bookman Old Style" panose="02050604050505020204" pitchFamily="18" charset="0"/>
                <a:cs typeface="Calibri" panose="020F0502020204030204" pitchFamily="34" charset="0"/>
              </a:rPr>
              <a:t>R</a:t>
            </a:r>
            <a:r>
              <a:rPr lang="tr-TR" sz="2400" dirty="0">
                <a:latin typeface="Bookman Old Style" panose="02050604050505020204" pitchFamily="18" charset="0"/>
                <a:cs typeface="Calibri" panose="020F0502020204030204" pitchFamily="34" charset="0"/>
              </a:rPr>
              <a:t>)  VEYA</a:t>
            </a:r>
            <a:r>
              <a:rPr lang="tr-TR" sz="2800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/>
            </a:r>
            <a:br>
              <a:rPr lang="tr-TR" sz="2800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tr-TR" sz="2400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2400" dirty="0">
                <a:latin typeface="Bookman Old Style" panose="02050604050505020204" pitchFamily="18" charset="0"/>
                <a:cs typeface="Calibri" panose="020F0502020204030204" pitchFamily="34" charset="0"/>
              </a:rPr>
              <a:t>( HİSSE FİYATI / HBK 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35361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Piyasa Değeri            = 18.500.000.000 TL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Yıllık Net Kar            = 4.500.000.000 TL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Ödenmiş Sermayesi   = 350.000.000 TL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              = 52,85 TL</a:t>
            </a:r>
          </a:p>
          <a:p>
            <a:r>
              <a:rPr lang="tr-TR" sz="18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Şirketin HBK ve F/K Oranı bulunuz?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HBK =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Yıllık Net Kar / Ödenmiş Sermaye ) Yani;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( 4.500.000.000 ) / ( 350.000.000 )  = </a:t>
            </a:r>
            <a:r>
              <a:rPr lang="tr-TR" sz="18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12,85 HBK</a:t>
            </a:r>
            <a:endParaRPr lang="tr-TR" sz="18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F/K ORANI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(18.500.000.000 ) / ( 4.500.000.000 )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4,11 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VEYA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F/K ORANI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( 52,85 / 12,85 )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4,11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6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800" dirty="0">
                <a:latin typeface="Bookman Old Style" panose="02050604050505020204" pitchFamily="18" charset="0"/>
                <a:cs typeface="Calibri" panose="020F0502020204030204" pitchFamily="34" charset="0"/>
              </a:rPr>
              <a:t>F/K Oranı</a:t>
            </a:r>
            <a:br>
              <a:rPr lang="tr-TR" sz="2800" dirty="0">
                <a:latin typeface="Bookman Old Style" panose="02050604050505020204" pitchFamily="18" charset="0"/>
                <a:cs typeface="Calibri" panose="020F0502020204030204" pitchFamily="34" charset="0"/>
              </a:rPr>
            </a:br>
            <a:r>
              <a:rPr lang="tr-TR" sz="2400" dirty="0">
                <a:latin typeface="Bookman Old Style" panose="02050604050505020204" pitchFamily="18" charset="0"/>
                <a:cs typeface="Calibri" panose="020F0502020204030204" pitchFamily="34" charset="0"/>
              </a:rPr>
              <a:t>(FİYAT/KAZANÇ)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35361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85000" lnSpcReduction="20000"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Karı hızlı artan şirketlerin yüksek Fk'dan işlem görmesi normaldir.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Karların ne kadarının esas faaliyetlerden geldiği çok önemlidir.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X Şirketi 200.000.000 TL Kar etmiş bunun 90.000.000 TL si Esas faaliyet karı ve Fk’sı 6 olsun;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 Şirketi 200.000.000 TL Kar etmiş bunun 50.000.000 TL si Esas faaliyet karı ve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Fk’sı 6 olsun;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Bazı sektörler yüksek fk’dan Bazı sektörler ise düşük fk’dan işlem görürler.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Otomotiv sektörü Fk Ort. = 20                      Froto Fk Ort. = 15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Gyo sektörü Fk Ort.           = 4		        Algyo             = 7</a:t>
            </a: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60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800" dirty="0" smtClean="0">
                <a:latin typeface="Bookman Old Style" panose="02050604050505020204" pitchFamily="18" charset="0"/>
                <a:cs typeface="Calibri" panose="020F0502020204030204" pitchFamily="34" charset="0"/>
              </a:rPr>
              <a:t>HİSSE BAŞI </a:t>
            </a:r>
            <a:r>
              <a:rPr lang="tr-TR" sz="2800" dirty="0" smtClean="0">
                <a:latin typeface="Bookman Old Style" panose="02050604050505020204" pitchFamily="18" charset="0"/>
                <a:cs typeface="Calibri" panose="020F0502020204030204" pitchFamily="34" charset="0"/>
              </a:rPr>
              <a:t>KÂR (HBK)</a:t>
            </a:r>
            <a:r>
              <a:rPr lang="tr-TR" sz="2400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  <a:t/>
            </a:r>
            <a:br>
              <a:rPr lang="tr-TR" sz="2400" dirty="0">
                <a:solidFill>
                  <a:schemeClr val="bg1"/>
                </a:solidFill>
                <a:effectLst/>
                <a:latin typeface="Bookman Old Style" panose="02050604050505020204" pitchFamily="18" charset="0"/>
                <a:cs typeface="Calibri" panose="020F0502020204030204" pitchFamily="34" charset="0"/>
              </a:rPr>
            </a:br>
            <a:endParaRPr lang="tr-TR" sz="24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35361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HBK =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(YILLIK NET K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ÂR / ÖDENMİŞ SERMAYE )    </a:t>
            </a:r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VEYA</a:t>
            </a:r>
          </a:p>
          <a:p>
            <a:endParaRPr lang="tr-TR" sz="1900" b="1" dirty="0" smtClean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HBK =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HİSSE FİYATI / FK ORANI)</a:t>
            </a:r>
          </a:p>
          <a:p>
            <a:endParaRPr lang="tr-TR" sz="1900" b="1" dirty="0" smtClean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HİSSE FİYATI =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HBK X FK ORANI )</a:t>
            </a: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39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800" dirty="0">
                <a:latin typeface="Bookman Old Style" panose="02050604050505020204" pitchFamily="18" charset="0"/>
                <a:cs typeface="Calibri" panose="020F0502020204030204" pitchFamily="34" charset="0"/>
              </a:rPr>
              <a:t>PEG RASYOSU</a:t>
            </a:r>
            <a:endParaRPr lang="tr-TR" sz="24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35361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PEG RASYOSU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F/K ORANI /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Â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R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BÜYÜME ORANI )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1’in altında olmalı, 1 ise Adil fiyatındadır.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X Şirketi karını her yıl %80 oranında arttırıyor ve Fk’sı 12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 Şirketi karını her yıl %20 oranında arttırıyor ve Fk’sı 22 ise Peg?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X Şirketi Peg Rasyosu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( 12 / 80 ) = 0,15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 Şirketi Peg Rasyosu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( 22 / 20 ) = 1,1</a:t>
            </a: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955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  <a:t> 1) CARİ f/K ORANINA GÖRE HİSSEYE DEĞER BİÇME </a:t>
            </a:r>
            <a:b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tr-TR" sz="2200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353611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(Hisse Fiyatı / Şirket Fk Oranı) x Bist100 veya Sektör Fk Oranı</a:t>
            </a:r>
          </a:p>
          <a:p>
            <a:endParaRPr lang="tr-TR" sz="11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 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Şirketin Şuan ki F/K Oranı = 6,50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Bist100 F/K Oranı  = 8,50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            = 3,35 TL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Cari F/K Oranına göre hissenin olması gereken fiyatı kaçtır?</a:t>
            </a:r>
          </a:p>
          <a:p>
            <a:r>
              <a:rPr lang="tr-TR" sz="19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(3,35 /6,50 ) X 8,50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4,38 TL 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Cari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19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F/k oranına göre olması gereken fiyat.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(4,38-3,35)/3,35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0,3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Yani hissemizin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%30 prim potansiyeli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vardır.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85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  <a:t>F/K Oranı</a:t>
            </a:r>
            <a:b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(FİYAT/KAZANÇ)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762390" cy="4717027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(Hisse Fiyatı / Şirketin Future’s Fk Oranı) x Bist100 veya Sektör Fk Oranı</a:t>
            </a:r>
          </a:p>
          <a:p>
            <a:endParaRPr lang="tr-TR" sz="4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Piyasa Değeri            = 18.500.000.000 TL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6 Aylık Net Kar         = 2.500.000.000 TL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              = 52,85 TL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Bist100 F/k Oranı	 = 6,45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se Şirketin  Future’s F/K Oranına göre olması gereken fiyatı nedir ?</a:t>
            </a:r>
          </a:p>
          <a:p>
            <a:pPr>
              <a:lnSpc>
                <a:spcPct val="100000"/>
              </a:lnSpc>
            </a:pP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FUTURE’S F/K ORANI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(18.500.000) / (2.500.000.000 x 2)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3,7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(52,85/3,7) X 6,45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92,13 TL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Future’s F/k Oranına göre olması gereken fiyat.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(92,13-52,85) / 52,85 = 0,74 Yani hissemizin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%74 prim potansiyeli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vardır.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4" name="Başlık 4">
            <a:extLst>
              <a:ext uri="{FF2B5EF4-FFF2-40B4-BE49-F238E27FC236}">
                <a16:creationId xmlns:a16="http://schemas.microsoft.com/office/drawing/2014/main" xmlns="" id="{44BFFA97-581D-4A78-A442-F981BA8B9056}"/>
              </a:ext>
            </a:extLst>
          </p:cNvPr>
          <p:cNvSpPr txBox="1">
            <a:spLocks/>
          </p:cNvSpPr>
          <p:nvPr/>
        </p:nvSpPr>
        <p:spPr>
          <a:xfrm>
            <a:off x="913794" y="609601"/>
            <a:ext cx="10353761" cy="87040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  <a:t> 2) Future’s f/K ORANINA GÖRE HİSSEYE DEĞER BİÇME </a:t>
            </a:r>
            <a:b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tr-TR" sz="2200" dirty="0">
              <a:solidFill>
                <a:schemeClr val="bg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03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  <a:t>3) tarihsel f/K ORANINA GÖRE HİSSEYE DEĞER BİÇME </a:t>
            </a:r>
            <a:br>
              <a:rPr lang="tr-TR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tr-T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562283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r>
              <a:rPr lang="tr-TR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isse Fiyatı / Şuan ki Fk Oranı)  X Tarihsel Fk Oranı</a:t>
            </a:r>
          </a:p>
          <a:p>
            <a:endParaRPr lang="tr-TR" sz="1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Tarihsel Fk Oranı: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Son üç yılın ortalama F/k oranıdır</a:t>
            </a:r>
            <a:r>
              <a:rPr lang="tr-TR" sz="18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.</a:t>
            </a:r>
          </a:p>
          <a:p>
            <a:endParaRPr lang="tr-TR" sz="16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= 10,20 TL,   Şirketin Şuan ki F/k Oranı = 8,50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2019/12 F/k Oranı = 10,5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2020/12 F/k Oranı  = 9,2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2021/12 F/k Oranı  = 8,6 </a:t>
            </a:r>
            <a:r>
              <a:rPr lang="tr-TR" sz="18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Tarihsel F/k Oranına göre hissenin ederi nedir ?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Tarihsel F/k Oranı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( 10,5 + 9,2 + 8,6 ) / 3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9,43 Şirketin Tarihsel F/k oranı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( 10,20 TL /8,50 ) X 9,43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11,32 TL Tarihsel F/k Oranına göre hissenin değeri. 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5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PİYASA DEĞERİ / DEFTER DEĞERİ ( PD/DD)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534147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Bir şirketin defter değerinin kaç katına satıldığını gösteren kat sayıdır.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PİYASA DEĞERİ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Ödenmiş Sermaye X Hisse Fiyatı )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DEPTER DEĞERİ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Muhasebe Değeri = Öz Kaynak Değeri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 kaynak 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Toplam Varlıklar- Toplam Yükümlülükler )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Pd/Dd oranı ‘’1’’ in altında olması tercih edilir. Fakat bu her zaman geçerli olmaz. Sektörel bazda da değerlendirilmelidir.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Şirketin PD/DD oranı, BİST100 veya Sektörün Ortalama PD/DD oranından düşükse UCUZ, yüksekse Pahalıdır.</a:t>
            </a:r>
            <a:endParaRPr lang="tr-TR" sz="18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Ödenmiş Sermaye =325.000.000      Hisse Fiyatı = 4,50 TL </a:t>
            </a:r>
            <a:r>
              <a:rPr lang="tr-TR" sz="18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şirketin PD nedir?</a:t>
            </a:r>
          </a:p>
          <a:p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</a:t>
            </a:r>
            <a:r>
              <a:rPr lang="tr-TR" sz="1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= ( 325.000.000 X 4,50 TL ) = </a:t>
            </a:r>
            <a:r>
              <a:rPr lang="tr-TR" sz="18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1.462.500.000 TL</a:t>
            </a:r>
          </a:p>
        </p:txBody>
      </p:sp>
    </p:spTree>
    <p:extLst>
      <p:ext uri="{BB962C8B-B14F-4D97-AF65-F5344CB8AC3E}">
        <p14:creationId xmlns:p14="http://schemas.microsoft.com/office/powerpoint/2010/main" val="793236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PİYASA DEĞERİ / DEFTER DEĞERİ ( PD/DD)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8"/>
            <a:ext cx="10353762" cy="3896412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 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Piyasa Değeri = 1.250.000.000 TL         Öz kaynaklar = 1.953.000.000 TL</a:t>
            </a:r>
          </a:p>
          <a:p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İse Bu şirketin Pd/Dd oranı nedir </a:t>
            </a:r>
            <a:r>
              <a:rPr lang="tr-TR" sz="1900" b="1" dirty="0" smtClean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?</a:t>
            </a:r>
          </a:p>
          <a:p>
            <a:endParaRPr lang="tr-TR" sz="18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Pd/Dd Oranı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( 1.250.000.000 TL / 1.953.000.000 TL )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0,64</a:t>
            </a:r>
          </a:p>
        </p:txBody>
      </p:sp>
    </p:spTree>
    <p:extLst>
      <p:ext uri="{BB962C8B-B14F-4D97-AF65-F5344CB8AC3E}">
        <p14:creationId xmlns:p14="http://schemas.microsoft.com/office/powerpoint/2010/main" val="136654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4) PD/DD ORANINA GÖRE HİSSEYE DEĞER BİÇME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894788"/>
            <a:ext cx="10720187" cy="4674824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Hisse Fiyatı / Şirket Pd/DD Oranı ) X ( Bist100 veya Sektör Ort. Pd/Dd Oranı )</a:t>
            </a:r>
          </a:p>
          <a:p>
            <a:endParaRPr lang="tr-TR" sz="6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= 4,50 TL         Şirket Pd/Dd = 0,60 	         Bist100 Pd/Dd = 1,1</a:t>
            </a:r>
          </a:p>
          <a:p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İse Pd/Dd Oranına Göre  Hissenin Ederi Nedir ?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( 4,50 / 0,6 ) X 1,1 = 8,25 TL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X Şirketinin son 3 dönem Pd/Dd ortalaması = 3,2 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Şirketin şuan ki Pd/Dd ortalaması= 2,4 ise bu şirkete ucuzdur yorumu yapabiliriz.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907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İçsel değer ( fk  oranı + PD/Dd oranı / 2 )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8"/>
            <a:ext cx="10353762" cy="3896412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 </a:t>
            </a: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Fk Oranına Göre Olması Gereken Fiyat = 6,56 TL</a:t>
            </a: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Pd/Dd Oranına Göre Olması Gereken Fiyat = 3,44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TL</a:t>
            </a:r>
          </a:p>
          <a:p>
            <a:pPr marL="0" indent="0">
              <a:buNone/>
            </a:pP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bu şirketin içsel değeri kaç TL’dir?</a:t>
            </a: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endParaRPr lang="tr-TR" sz="1900" b="1" dirty="0" smtClean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İçsel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Değer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( 6,56 + 3,44 )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5,00 TL</a:t>
            </a:r>
          </a:p>
        </p:txBody>
      </p:sp>
    </p:spTree>
    <p:extLst>
      <p:ext uri="{BB962C8B-B14F-4D97-AF65-F5344CB8AC3E}">
        <p14:creationId xmlns:p14="http://schemas.microsoft.com/office/powerpoint/2010/main" val="3026251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434786" cy="4017497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Bir şirket sermayesi kadar kar elde ederse, 10 TL ederi vardır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.</a:t>
            </a: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EDER=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YILLIK NET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Â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R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/ ÖDENMİŞ SERMAYE ) X 10</a:t>
            </a:r>
          </a:p>
          <a:p>
            <a:endParaRPr lang="tr-TR" sz="7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6 Aylık Net Kar = 12.000.000 TL    </a:t>
            </a: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Ödenmiş Sermaye = 30.000.000 TL       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ise bu hissenin ederi nedir? </a:t>
            </a:r>
          </a:p>
          <a:p>
            <a:pPr marL="0" indent="0">
              <a:buNone/>
            </a:pPr>
            <a:endParaRPr lang="tr-TR" sz="4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( 24.000.000 / 30.000.000 ) X 10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8 TL</a:t>
            </a:r>
          </a:p>
          <a:p>
            <a:pPr marL="0" indent="0">
              <a:buNone/>
            </a:pP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xmlns="" id="{AC16726F-5548-4E2E-AFA9-DE182E86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59655"/>
            <a:ext cx="10353761" cy="1176266"/>
          </a:xfr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</a:rPr>
              <a:t>5)  ÖDENMİŞ SERMAYEYE göre hisseye değer biçme</a:t>
            </a:r>
          </a:p>
        </p:txBody>
      </p:sp>
    </p:spTree>
    <p:extLst>
      <p:ext uri="{BB962C8B-B14F-4D97-AF65-F5344CB8AC3E}">
        <p14:creationId xmlns:p14="http://schemas.microsoft.com/office/powerpoint/2010/main" val="1065518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88389"/>
            <a:ext cx="10353761" cy="738554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Özsermaye</a:t>
            </a:r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kârlılığı </a:t>
            </a:r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( roe 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763" y="1002082"/>
            <a:ext cx="10240423" cy="5191749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ÖZSERMAYE </a:t>
            </a:r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Â</a:t>
            </a:r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RLILIĞI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Yıllık Net Kar / Öz sermaye)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VEYA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(Pd/Dd Oranı / Fk Oranı)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Yıllık Enflasyon Oranının Üzerinde Olması Çok Önemlidir.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 kaynakları (-) olan, yani toplam borçları, elindeki varlıklardan büyük olan şirketlerin Pd/Dd oranı hesaplanamaz.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Öz sermaye= 35.000.000 TL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3 Aylık Net Kar = 2.500.000 TL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İse Şirketin Öz sermaye Karlılığı Kaçtır?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YIL SONU TAHMİNİ ÖZSERMAYE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KÂRLILIĞI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( 10.000.000 / 35.000.000 )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0,28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yani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%28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‘</a:t>
            </a:r>
            <a:r>
              <a:rPr lang="tr-TR" sz="1900" b="1" dirty="0" err="1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dir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Şirketin Pd/Dd Oranı = 1,2   Şirketin F/k Oranı = 6,55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Öz sermaye Karlılığı Kaçtır ?</a:t>
            </a: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ŞUANKİ ÖZ SERMAYE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KÂRLILIĞI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(1,2 / 6,55 )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0,19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Yani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%19</a:t>
            </a: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FF000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43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6) Öz sermaye </a:t>
            </a:r>
            <a:r>
              <a:rPr lang="tr-TR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kârlılığına </a:t>
            </a:r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göre hisseye değer biçme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94787"/>
            <a:ext cx="10353762" cy="4245327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[ Öz sermaye Karlılığı X 10) / (Pd/Dd Oranı) X Hisse Fiyatı ]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Kurala Göre Pd/Dd Oranı Öz sermaye Karlılığının 10 Katı Olmalıdır.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 sermaye = 36.000.000 TL   Yıllık Net Kar = 12.000.000 TL 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Pd/Dd Oranı = 2  Hisse Fiyatı = 4,60 TL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Öz sermaye Karlılığına Göre Hissenin Ederi Nedir? 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(12.000.000 / 36.000.000 ) X 10 / ( 2 ) =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1,66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yani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%66 Prim Potansiyeli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vardır.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1,66 X 4,60 = </a:t>
            </a:r>
            <a:r>
              <a:rPr lang="tr-TR" sz="1900" b="1" dirty="0" smtClean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7,66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TL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 sermaye Karlılığına Göre Hissenin Olması Gereken Fiyatı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157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717885"/>
            <a:ext cx="10353761" cy="870408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7) Potansiyel piyasa değerine göre hisseye değer biçme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88123"/>
            <a:ext cx="10353762" cy="4951827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POTANSİYEL PİYASA DEĞERİ=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Yıllık Net Kar X 7 ) + ( 0,5 X Öz sermaye) 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PPD’ ye Göre Hissenin Olması Gereken Fiyatı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PPD / Ödenmiş Sermaye) 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Öz sermaye= 35.000.000 TL        Yıllık Net Kar= 10.000.000 TL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Ödenmiş Sermaye= 20.000.000     Hisse Fiyatı = 3,50 TL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ise PPD’ ye Göre Hissenin Ederi Nedir?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PPD =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( 10.000.000 X 7 ) + ( 0,5 X  35.000.000 ) =87.500.000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PPD / Ödenmiş Sermaye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( 87.500.000 / 20.000.000 ) = </a:t>
            </a:r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4,38 TL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PPD’ ye Göre Hissenin Olması Gereken Fiyatı. </a:t>
            </a:r>
          </a:p>
        </p:txBody>
      </p:sp>
    </p:spTree>
    <p:extLst>
      <p:ext uri="{BB962C8B-B14F-4D97-AF65-F5344CB8AC3E}">
        <p14:creationId xmlns:p14="http://schemas.microsoft.com/office/powerpoint/2010/main" val="1314762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268" y="316717"/>
            <a:ext cx="10353761" cy="766689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2200" dirty="0">
                <a:latin typeface="Calibri" panose="020F0502020204030204" pitchFamily="34" charset="0"/>
                <a:cs typeface="Calibri" panose="020F0502020204030204" pitchFamily="34" charset="0"/>
              </a:rPr>
              <a:t>8) Piyasa değeri / net satış yöntemine göre hisseye değer biçme ( PD/NS )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38" y="1102290"/>
            <a:ext cx="9839588" cy="4912900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NET KAR MARJI =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( YILLIK NET 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Â</a:t>
            </a:r>
            <a:r>
              <a:rPr lang="tr-TR" sz="1900" b="1" dirty="0" smtClean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R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/ YILLIK NET SATIŞ )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DEĞER BİÇME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NET KAR MARJI X 10 ) / (PD/NS)</a:t>
            </a:r>
          </a:p>
          <a:p>
            <a:pPr marL="0" indent="0">
              <a:buNone/>
            </a:pPr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ÖRNEK: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YILLIK NET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KÂR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10.000.000 TL     YILLIK NET SATIŞ =40.000.000 TL</a:t>
            </a:r>
          </a:p>
          <a:p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 = 60.000.000 TL        HİSSE FİYATI = 4,00 </a:t>
            </a:r>
            <a:r>
              <a:rPr lang="tr-TR" sz="1900" b="1" dirty="0">
                <a:solidFill>
                  <a:srgbClr val="00206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TL     İse Pd/Ns Yöntemine Göre Hissenin Olması Gereken Fiyatı Nedir ?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Net Kar Marjı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( 10.000.000 TL / 40.000.000 TL ) X 10 = 2,5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Pd/Ns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( 60.000.000 TL / 40.000.000 TL ) = 1,5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Ederi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( 2,5 / 1,5 ) = 1,66 Yani Hissenin %66 Prim Potansiyeli Vardır.</a:t>
            </a:r>
          </a:p>
          <a:p>
            <a:r>
              <a:rPr lang="tr-TR" sz="1900" b="1" dirty="0">
                <a:solidFill>
                  <a:srgbClr val="FF0000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Hisse Fiyatı X Prim Potansiyeli </a:t>
            </a:r>
            <a:r>
              <a:rPr lang="tr-TR" sz="19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= ( 4,00 TL X 0,66 ) = 6,64 TL</a:t>
            </a:r>
          </a:p>
          <a:p>
            <a:pPr marL="0" indent="0">
              <a:buNone/>
            </a:pPr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chemeClr val="bg1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568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19" y="250837"/>
            <a:ext cx="10353761" cy="672445"/>
          </a:xfrm>
        </p:spPr>
        <p:txBody>
          <a:bodyPr>
            <a:normAutofit/>
          </a:bodyPr>
          <a:lstStyle/>
          <a:p>
            <a:r>
              <a:rPr lang="tr-TR" sz="260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SERMAYE ARTtIRIMI</a:t>
            </a:r>
          </a:p>
        </p:txBody>
      </p:sp>
      <p:sp>
        <p:nvSpPr>
          <p:cNvPr id="2" name="Metin Yer Tutucusu 1">
            <a:extLst>
              <a:ext uri="{FF2B5EF4-FFF2-40B4-BE49-F238E27FC236}">
                <a16:creationId xmlns:a16="http://schemas.microsoft.com/office/drawing/2014/main" xmlns="" id="{BB8CF095-3E01-4241-8193-00BFCD0A7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0600" y="1620283"/>
            <a:ext cx="4879199" cy="47057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C000"/>
                </a:solidFill>
              </a:rPr>
              <a:t>Bedelli Sermaye Arttırımı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xmlns="" id="{D34F4443-9911-4C8A-82E5-DAA3B775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966" y="923282"/>
            <a:ext cx="11506068" cy="505267"/>
          </a:xfrm>
        </p:spPr>
        <p:txBody>
          <a:bodyPr>
            <a:normAutofit/>
          </a:bodyPr>
          <a:lstStyle/>
          <a:p>
            <a:pPr algn="ctr"/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Bir şirketin ödenmiş sermayesini arttırmasıdır. Ödenmiş sermaye artarsa hisse senedi sayısı artar.  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xmlns="" id="{1C24E5B5-AFB4-4434-BC58-141D91445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1585593"/>
            <a:ext cx="4865554" cy="50526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srgbClr val="FFC000"/>
                </a:solidFill>
              </a:rPr>
              <a:t>Bedelsiz Sermaye Arttırımı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xmlns="" id="{88DBF907-B4A3-4DF3-827D-6A3CD013B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696" y="2234148"/>
            <a:ext cx="4866757" cy="4026801"/>
          </a:xfrm>
        </p:spPr>
        <p:txBody>
          <a:bodyPr>
            <a:normAutofit fontScale="92500" lnSpcReduction="10000"/>
          </a:bodyPr>
          <a:lstStyle/>
          <a:p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İşletmelerin sermayelerini iç kaynaklardan karşılamak üzere arttırmalarıdır. Ortaklara dağıtılan hisse senetlerinden bir bedel alınmadığı için buna bedelsiz sermaye artırımı denir.</a:t>
            </a:r>
          </a:p>
          <a:p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Örnek; 1000 adet hisse senediniz var.</a:t>
            </a:r>
          </a:p>
          <a:p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Şirket %40 oranında Bedelsiz Sermaye artımına karar verdi.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Elinizde bulunan hisse senedinin %40 oranında artışı sağlanır.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Size verilen bu %40 oranındaki hisse senedi için herhangi bir bedel talep edilmez.</a:t>
            </a:r>
          </a:p>
        </p:txBody>
      </p:sp>
      <p:sp>
        <p:nvSpPr>
          <p:cNvPr id="8" name="İçerik Yer Tutucusu 2">
            <a:extLst>
              <a:ext uri="{FF2B5EF4-FFF2-40B4-BE49-F238E27FC236}">
                <a16:creationId xmlns:a16="http://schemas.microsoft.com/office/drawing/2014/main" xmlns="" id="{7AEF9FD9-89CC-4E82-9BA0-9668F0690739}"/>
              </a:ext>
            </a:extLst>
          </p:cNvPr>
          <p:cNvSpPr txBox="1">
            <a:spLocks/>
          </p:cNvSpPr>
          <p:nvPr/>
        </p:nvSpPr>
        <p:spPr>
          <a:xfrm>
            <a:off x="1066195" y="3064632"/>
            <a:ext cx="5107208" cy="2878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endParaRPr lang="tr-TR" dirty="0"/>
          </a:p>
        </p:txBody>
      </p:sp>
      <p:sp>
        <p:nvSpPr>
          <p:cNvPr id="9" name="İçerik Yer Tutucusu 5">
            <a:extLst>
              <a:ext uri="{FF2B5EF4-FFF2-40B4-BE49-F238E27FC236}">
                <a16:creationId xmlns:a16="http://schemas.microsoft.com/office/drawing/2014/main" xmlns="" id="{67CA483B-4DBE-4983-879D-34C574155405}"/>
              </a:ext>
            </a:extLst>
          </p:cNvPr>
          <p:cNvSpPr txBox="1">
            <a:spLocks/>
          </p:cNvSpPr>
          <p:nvPr/>
        </p:nvSpPr>
        <p:spPr>
          <a:xfrm>
            <a:off x="915882" y="2129425"/>
            <a:ext cx="4953605" cy="41315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Sermaye artırımı yapılarak arttırılan sermaye karşısında bastırılan hisse senetlerinin, ortaklara belirli bir bedel karşılığında dağıtılmasıdır.</a:t>
            </a:r>
          </a:p>
          <a:p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Örnek; 1000 adet hisse senediniz var.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Şirket %40 oranında Bedelli Sermaye artırımına karar verdi.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Elinizde bulunan hisse senedinin %40 oranında artışı sağlanır.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1000 adet hissenin %40’I 400 hisse demektir.</a:t>
            </a:r>
            <a:b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tr-TR" sz="19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Size verilen bu 400 adet hisse senedi için şirket sizden belli bir bedel talep eder.</a:t>
            </a:r>
          </a:p>
        </p:txBody>
      </p:sp>
    </p:spTree>
    <p:extLst>
      <p:ext uri="{BB962C8B-B14F-4D97-AF65-F5344CB8AC3E}">
        <p14:creationId xmlns:p14="http://schemas.microsoft.com/office/powerpoint/2010/main" val="2365419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529" y="1005648"/>
            <a:ext cx="10353761" cy="766689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tr-TR" sz="4400" dirty="0" smtClean="0">
                <a:latin typeface="Calibri" panose="020F0502020204030204" pitchFamily="34" charset="0"/>
                <a:cs typeface="Calibri" panose="020F0502020204030204" pitchFamily="34" charset="0"/>
              </a:rPr>
              <a:t>Bedelsiz potansiyeli nasıl hesaplanır?</a:t>
            </a:r>
            <a:endParaRPr lang="tr-TR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İçerik Yer Tutucusu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837794"/>
              </p:ext>
            </p:extLst>
          </p:nvPr>
        </p:nvGraphicFramePr>
        <p:xfrm>
          <a:off x="913795" y="970671"/>
          <a:ext cx="10685306" cy="5683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3522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xmlns="" id="{A0B3AE1F-49EC-4E57-95C1-60FA4ADC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3982"/>
            <a:ext cx="10353761" cy="766689"/>
          </a:xfrm>
          <a:solidFill>
            <a:schemeClr val="accent3">
              <a:lumMod val="75000"/>
            </a:schemeClr>
          </a:solidFill>
        </p:spPr>
        <p:txBody>
          <a:bodyPr>
            <a:normAutofit/>
          </a:bodyPr>
          <a:lstStyle/>
          <a:p>
            <a:endParaRPr lang="tr-TR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xmlns="" id="{9D48F54A-5059-4957-AE2A-E3EADD215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3983"/>
            <a:ext cx="10353762" cy="6450036"/>
          </a:xfrm>
          <a:solidFill>
            <a:schemeClr val="accent2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endParaRPr lang="tr-TR" sz="1900" b="1" dirty="0">
              <a:solidFill>
                <a:srgbClr val="002060"/>
              </a:solidFill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4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     --------- </a:t>
            </a:r>
            <a:r>
              <a:rPr lang="tr-TR" sz="72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SON </a:t>
            </a:r>
            <a:r>
              <a:rPr lang="tr-TR" sz="72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  <a:r>
              <a:rPr lang="tr-TR" sz="72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 </a:t>
            </a:r>
            <a:r>
              <a:rPr lang="tr-TR" sz="4800" b="1" dirty="0">
                <a:solidFill>
                  <a:schemeClr val="bg1"/>
                </a:solidFill>
                <a:latin typeface="Bookman Old Style" panose="02050604050505020204" pitchFamily="18" charset="0"/>
                <a:cs typeface="Calibri" panose="020F0502020204030204" pitchFamily="34" charset="0"/>
              </a:rPr>
              <a:t>-----------</a:t>
            </a:r>
          </a:p>
        </p:txBody>
      </p:sp>
    </p:spTree>
    <p:extLst>
      <p:ext uri="{BB962C8B-B14F-4D97-AF65-F5344CB8AC3E}">
        <p14:creationId xmlns:p14="http://schemas.microsoft.com/office/powerpoint/2010/main" val="33942693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2462</TotalTime>
  <Words>1701</Words>
  <Application>Microsoft Office PowerPoint</Application>
  <PresentationFormat>Özel</PresentationFormat>
  <Paragraphs>234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24</vt:i4>
      </vt:variant>
    </vt:vector>
  </HeadingPairs>
  <TitlesOfParts>
    <vt:vector size="25" baseType="lpstr">
      <vt:lpstr>Damask</vt:lpstr>
      <vt:lpstr>TEMEL ANALİZ ve hisseye değer biçme yöntemleri</vt:lpstr>
      <vt:lpstr>Temel analiz KONULAR</vt:lpstr>
      <vt:lpstr>HİSSEYE DEĞER  BİÇME YÖNTEMLERİ</vt:lpstr>
      <vt:lpstr>Temel analiz NEDİR ?</vt:lpstr>
      <vt:lpstr>F/K OranI (FİYAT/KAZANÇ)</vt:lpstr>
      <vt:lpstr>F/K ORANI   (PD / YILLIK  NET KÂR)  VEYA  ( HİSSE FİYATI / HBK )</vt:lpstr>
      <vt:lpstr>F/K Oranı (FİYAT/KAZANÇ)</vt:lpstr>
      <vt:lpstr>HİSSE BAŞI KÂR (HBK) </vt:lpstr>
      <vt:lpstr>PEG RASYOSU</vt:lpstr>
      <vt:lpstr> 1) CARİ f/K ORANINA GÖRE HİSSEYE DEĞER BİÇME  </vt:lpstr>
      <vt:lpstr>F/K Oranı (FİYAT/KAZANÇ)</vt:lpstr>
      <vt:lpstr>3) tarihsel f/K ORANINA GÖRE HİSSEYE DEĞER BİÇME  </vt:lpstr>
      <vt:lpstr>PİYASA DEĞERİ / DEFTER DEĞERİ ( PD/DD) </vt:lpstr>
      <vt:lpstr>PİYASA DEĞERİ / DEFTER DEĞERİ ( PD/DD) </vt:lpstr>
      <vt:lpstr>4) PD/DD ORANINA GÖRE HİSSEYE DEĞER BİÇME</vt:lpstr>
      <vt:lpstr>İçsel değer ( fk  oranı + PD/Dd oranı / 2 )</vt:lpstr>
      <vt:lpstr>5)  ÖDENMİŞ SERMAYEYE göre hisseye değer biçme</vt:lpstr>
      <vt:lpstr>Özsermaye kârlılığı ( roe )</vt:lpstr>
      <vt:lpstr>6) Öz sermaye kârlılığına göre hisseye değer biçme</vt:lpstr>
      <vt:lpstr>7) Potansiyel piyasa değerine göre hisseye değer biçme</vt:lpstr>
      <vt:lpstr>8) Piyasa değeri / net satış yöntemine göre hisseye değer biçme ( PD/NS )</vt:lpstr>
      <vt:lpstr>SERMAYE ARTtIRIMI</vt:lpstr>
      <vt:lpstr>Bedelsiz potansiyeli nasıl hesaplanır?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TEMEL ANALİZ</dc:title>
  <dc:creator>Aykut Korkutata</dc:creator>
  <cp:lastModifiedBy>pc</cp:lastModifiedBy>
  <cp:revision>124</cp:revision>
  <dcterms:created xsi:type="dcterms:W3CDTF">2020-06-07T15:30:46Z</dcterms:created>
  <dcterms:modified xsi:type="dcterms:W3CDTF">2023-02-01T06:03:04Z</dcterms:modified>
</cp:coreProperties>
</file>